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5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4DCB3-826B-4D55-B390-89A29EF83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346FE5-3687-4E62-A719-043613FFC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9DEF6A-ACE3-409D-805A-1D7594F9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5B61B9-CFC2-47A2-AB6E-7ED1861C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8873AE-14A0-4F55-AF0C-AC49D488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46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F70532-72D1-4571-84D5-3552BB88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B1786-8545-4D10-8029-FAB6C733D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38C246-6460-4F33-B606-9E8B476D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E2222-FC1E-4A76-9C05-6477091D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57A752-6A86-4265-A770-C8033EFF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9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D26A1-9A71-4CB0-B6DB-4BAC0937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AF379-7A49-4079-A708-29996450E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C8A277-E92C-459D-B596-05C8EE35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3796B-DBB3-4679-BF2D-47B9A7129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743D6-D68E-4531-9892-6336AD9C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67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FDF25-BE88-4C98-B805-F238569E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D1C31-9128-4D64-A4E6-717220F5C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0D7FE9-6BE9-4031-87CB-49AA3D0BC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67287F-5C01-4C5F-953D-BFB7B6CA2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A4EB50-4B9C-434E-B984-964A702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8793BA-83CF-40F7-89F3-3D338E74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19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0ABB2-144C-4289-A3B6-8D9D9B9F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6DA382-FB11-414F-8C6A-6931F47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B1E65F-D641-454E-9F17-A4F3F41D3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4CC2CFA-4B5A-44CC-82D1-F13488BB6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0969A5-05C7-4954-A70E-8FC883282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9560609-D6A3-4247-A913-E71F1E70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1AC1FC-A1DA-4CD5-ADDE-6598556E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08E26D-F6D2-4CF9-AF4C-6D8054BC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33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87C17-FE42-4520-AE9F-A669D1EA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2639A1-5F15-4B54-9B92-4616E334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1441E4-4DFD-4056-B59C-49416C81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E574F7-C5B5-4796-B217-6C01721E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28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4A52F9-EBE5-4C8A-9EB9-EF86F445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7404A2-51F1-4CEE-BACF-9CC0C376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6C0845-1D18-4048-A13C-BCE12204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68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D4A15-AC67-4B09-96CE-4AA2A56A0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27769-8FA5-470C-B3E2-0D253CF90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F2AEC3-F6D8-4028-9761-6B9720383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270098-5CDA-4FF8-99D9-E8EA8C7E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991AD5-774D-44A4-8076-DD9E21A4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27A71-67AF-4688-9EE1-9929E591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76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54DE7-F446-4117-8A5A-10BA1C7C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9B29A7-1BDD-4808-B4BC-8B3315BE8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89DF8-D8BB-4AD9-972B-21F5F2A1C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EA4D04-3269-4AF5-8D0A-E06B01A8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FB359D-1616-4B31-BB81-3A1439F5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B50E6D-31AC-4A14-8FA8-B93E01FA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82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09816-FE6B-48F7-BD09-8729ADDB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E676A7-6D4F-4C77-BE68-F0F24CE09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1531C-D127-45BB-8FCB-CA5F4D41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AE28D8-E6A9-444F-9689-9E98027E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184BAF-3791-4E15-8749-7D4323F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48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836466-5AEA-4C96-BA40-F89EFA381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1C7FF1-F2B3-4D76-BCB8-3BDB7A478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838445-B7E3-46DA-A9AC-23E91186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B3B96F-4B41-4146-9555-97ADBD44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C1363-59BE-4E4D-A2B8-16B00E1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7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BC0A4-DF34-4617-BE8B-C10B3CEF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085CE4-6F27-47C1-805E-5943DD714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331F0-4DE1-4068-BFF3-492D5ADB2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A0D56-8B60-4715-9849-35F37AFD6082}" type="datetimeFigureOut">
              <a:rPr lang="ru-RU" smtClean="0"/>
              <a:t>27.05.2023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2C811-0999-4E74-AFEE-7B7EA8AEA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16876-133E-4CE1-B554-FD9250A3C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AA9DC-ACD3-4B79-BE90-A0A444913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F9AED-B78A-4D98-8150-B2B712C37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en-US" dirty="0"/>
              <a:t>Kerberos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75820E-841D-4E43-9081-1AA36373C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30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EBEFE-E93B-4033-80AD-EFD44548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Схема протокола </a:t>
            </a:r>
            <a:r>
              <a:rPr lang="en-US" b="1" dirty="0"/>
              <a:t>Kerberos</a:t>
            </a:r>
            <a:endParaRPr lang="ru-RU" b="1" dirty="0"/>
          </a:p>
        </p:txBody>
      </p:sp>
      <p:pic>
        <p:nvPicPr>
          <p:cNvPr id="4" name="Содержимое 3" descr="&amp;Pcy;&amp;rcy;&amp;ocy;&amp;tcy;&amp;ocy;&amp;kcy;&amp;ocy;&amp;lcy; Kerberos">
            <a:extLst>
              <a:ext uri="{FF2B5EF4-FFF2-40B4-BE49-F238E27FC236}">
                <a16:creationId xmlns:a16="http://schemas.microsoft.com/office/drawing/2014/main" id="{AD049E2E-1A7A-4084-BB50-1FE1F140618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4400" y="1866900"/>
            <a:ext cx="6883400" cy="4625975"/>
          </a:xfrm>
        </p:spPr>
      </p:pic>
    </p:spTree>
    <p:extLst>
      <p:ext uri="{BB962C8B-B14F-4D97-AF65-F5344CB8AC3E}">
        <p14:creationId xmlns:p14="http://schemas.microsoft.com/office/powerpoint/2010/main" val="96419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06C0E-54AC-4331-A503-B58AB44C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</a:t>
            </a:r>
            <a:r>
              <a:rPr lang="ru-RU" dirty="0"/>
              <a:t> </a:t>
            </a:r>
            <a:r>
              <a:rPr lang="ru-RU" b="1" dirty="0"/>
              <a:t>протокола </a:t>
            </a:r>
            <a:r>
              <a:rPr lang="en-US" b="1" dirty="0"/>
              <a:t>Kerberos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369A9-6862-414A-BACE-3CF06AF1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1. </a:t>
            </a:r>
            <a:r>
              <a:rPr lang="ru-RU" sz="2400" dirty="0"/>
              <a:t>C-&gt;AS: {c}.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Клиент C посылает серверу аутентификации AS свой </a:t>
            </a:r>
            <a:r>
              <a:rPr lang="ru-RU" sz="2400"/>
              <a:t>идентификатор {c} </a:t>
            </a:r>
            <a:r>
              <a:rPr lang="ru-RU" sz="2400" dirty="0"/>
              <a:t>(идентификатор передается открытым текстом).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2. AS-&gt;C: {{TGT}K</a:t>
            </a:r>
            <a:r>
              <a:rPr lang="en-US" sz="2400" baseline="-25000" dirty="0"/>
              <a:t>AS_TGS</a:t>
            </a:r>
            <a:r>
              <a:rPr lang="en-US" sz="2400" dirty="0"/>
              <a:t>, K</a:t>
            </a:r>
            <a:r>
              <a:rPr lang="en-US" sz="2400" baseline="-25000" dirty="0"/>
              <a:t>C_TGS</a:t>
            </a:r>
            <a:r>
              <a:rPr lang="en-US" sz="2400" dirty="0"/>
              <a:t>}K</a:t>
            </a:r>
            <a:r>
              <a:rPr lang="en-US" sz="2400" baseline="-25000" dirty="0"/>
              <a:t>C</a:t>
            </a:r>
            <a:endParaRPr lang="ru-RU" sz="24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где:</a:t>
            </a:r>
            <a:r>
              <a:rPr lang="en-US" sz="2400" dirty="0"/>
              <a:t> </a:t>
            </a:r>
            <a:r>
              <a:rPr lang="ru-RU" sz="2400" dirty="0"/>
              <a:t>K</a:t>
            </a:r>
            <a:r>
              <a:rPr lang="ru-RU" sz="2400" baseline="-25000" dirty="0"/>
              <a:t>C</a:t>
            </a:r>
            <a:r>
              <a:rPr lang="ru-RU" sz="2400" dirty="0"/>
              <a:t> - основной ключ C ;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K</a:t>
            </a:r>
            <a:r>
              <a:rPr lang="ru-RU" sz="2400" baseline="-25000" dirty="0"/>
              <a:t>C_TGS</a:t>
            </a:r>
            <a:r>
              <a:rPr lang="ru-RU" sz="2400" dirty="0"/>
              <a:t> - ключ, выдаваемый C для доступа к серверу выдачи разрешений TGS ;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{TGT} - </a:t>
            </a:r>
            <a:r>
              <a:rPr lang="ru-RU" sz="2400" dirty="0" err="1"/>
              <a:t>Ticket</a:t>
            </a:r>
            <a:r>
              <a:rPr lang="ru-RU" sz="2400" dirty="0"/>
              <a:t> </a:t>
            </a:r>
            <a:r>
              <a:rPr lang="ru-RU" sz="2400" dirty="0" err="1"/>
              <a:t>Granting</a:t>
            </a:r>
            <a:r>
              <a:rPr lang="ru-RU" sz="2400" dirty="0"/>
              <a:t> </a:t>
            </a:r>
            <a:r>
              <a:rPr lang="ru-RU" sz="2400" dirty="0" err="1"/>
              <a:t>Ticket</a:t>
            </a:r>
            <a:r>
              <a:rPr lang="ru-RU" sz="2400" dirty="0"/>
              <a:t> - билет на доступ к серверу выдачи разрешений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{TGT}={c,tgs,t</a:t>
            </a:r>
            <a:r>
              <a:rPr lang="ru-RU" sz="2400" baseline="-25000" dirty="0"/>
              <a:t>1</a:t>
            </a:r>
            <a:r>
              <a:rPr lang="ru-RU" sz="2400" dirty="0"/>
              <a:t>,p</a:t>
            </a:r>
            <a:r>
              <a:rPr lang="ru-RU" sz="2400" baseline="-25000" dirty="0"/>
              <a:t>1</a:t>
            </a:r>
            <a:r>
              <a:rPr lang="ru-RU" sz="2400" dirty="0"/>
              <a:t>, K</a:t>
            </a:r>
            <a:r>
              <a:rPr lang="ru-RU" sz="2400" baseline="-25000" dirty="0"/>
              <a:t>C_TGS</a:t>
            </a:r>
            <a:r>
              <a:rPr lang="ru-RU" sz="2400" dirty="0"/>
              <a:t>}, где </a:t>
            </a:r>
            <a:r>
              <a:rPr lang="ru-RU" sz="2400" dirty="0" err="1"/>
              <a:t>tgs</a:t>
            </a:r>
            <a:r>
              <a:rPr lang="ru-RU" sz="2400" dirty="0"/>
              <a:t> - идентификатор сервера выдачи разрешений, t</a:t>
            </a:r>
            <a:r>
              <a:rPr lang="ru-RU" sz="2400" baseline="-25000" dirty="0"/>
              <a:t>1</a:t>
            </a:r>
            <a:r>
              <a:rPr lang="ru-RU" sz="2400" dirty="0"/>
              <a:t> - отметка времени, p</a:t>
            </a:r>
            <a:r>
              <a:rPr lang="ru-RU" sz="2400" baseline="-25000" dirty="0"/>
              <a:t>1</a:t>
            </a:r>
            <a:r>
              <a:rPr lang="ru-RU" sz="2400" dirty="0"/>
              <a:t> - период действия билета.</a:t>
            </a:r>
          </a:p>
        </p:txBody>
      </p:sp>
    </p:spTree>
    <p:extLst>
      <p:ext uri="{BB962C8B-B14F-4D97-AF65-F5344CB8AC3E}">
        <p14:creationId xmlns:p14="http://schemas.microsoft.com/office/powerpoint/2010/main" val="78133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75830-FE1D-434E-A201-BAA242AA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</a:t>
            </a:r>
            <a:r>
              <a:rPr lang="ru-RU" dirty="0"/>
              <a:t> </a:t>
            </a:r>
            <a:r>
              <a:rPr lang="ru-RU" b="1" dirty="0"/>
              <a:t>протокола </a:t>
            </a:r>
            <a:r>
              <a:rPr lang="en-US" b="1" dirty="0"/>
              <a:t>Kerberos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89861-610D-4735-B56F-8B2AC819C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2400" dirty="0"/>
              <a:t>3. C-&gt;TGS: {TGT}K</a:t>
            </a:r>
            <a:r>
              <a:rPr lang="ru-RU" sz="2400" baseline="-25000" dirty="0"/>
              <a:t>AS_TGS</a:t>
            </a:r>
            <a:r>
              <a:rPr lang="ru-RU" sz="2400" dirty="0"/>
              <a:t>, {Aut</a:t>
            </a:r>
            <a:r>
              <a:rPr lang="ru-RU" sz="2400" baseline="-25000" dirty="0"/>
              <a:t>1</a:t>
            </a:r>
            <a:r>
              <a:rPr lang="ru-RU" sz="2400" dirty="0"/>
              <a:t>} K</a:t>
            </a:r>
            <a:r>
              <a:rPr lang="ru-RU" sz="2400" baseline="-25000" dirty="0"/>
              <a:t>C_TGS</a:t>
            </a:r>
            <a:r>
              <a:rPr lang="ru-RU" sz="2400" dirty="0"/>
              <a:t>, {ID}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где {Aut</a:t>
            </a:r>
            <a:r>
              <a:rPr lang="ru-RU" sz="2400" baseline="-25000" dirty="0"/>
              <a:t>1</a:t>
            </a:r>
            <a:r>
              <a:rPr lang="ru-RU" sz="2400" dirty="0"/>
              <a:t>} - </a:t>
            </a:r>
            <a:r>
              <a:rPr lang="ru-RU" sz="2400" dirty="0" err="1"/>
              <a:t>аутентификационный</a:t>
            </a:r>
            <a:r>
              <a:rPr lang="ru-RU" sz="2400" dirty="0"/>
              <a:t> блок - Aut</a:t>
            </a:r>
            <a:r>
              <a:rPr lang="ru-RU" sz="2400" baseline="-25000" dirty="0"/>
              <a:t>1</a:t>
            </a:r>
            <a:r>
              <a:rPr lang="ru-RU" sz="2400" dirty="0"/>
              <a:t> = {с,t</a:t>
            </a:r>
            <a:r>
              <a:rPr lang="ru-RU" sz="2400" baseline="-25000" dirty="0"/>
              <a:t>2</a:t>
            </a:r>
            <a:r>
              <a:rPr lang="ru-RU" sz="2400" dirty="0"/>
              <a:t>}, t</a:t>
            </a:r>
            <a:r>
              <a:rPr lang="ru-RU" sz="2400" baseline="-25000" dirty="0"/>
              <a:t>2</a:t>
            </a:r>
            <a:r>
              <a:rPr lang="ru-RU" sz="2400" dirty="0"/>
              <a:t> - метка времени; ID - идентификатор запрашиваемого сервиса (в частности, это может быть идентификатор сервера SS).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2400" dirty="0"/>
              <a:t>4. TGS-&gt;C: {{TGS}K</a:t>
            </a:r>
            <a:r>
              <a:rPr lang="ru-RU" sz="2400" baseline="-25000" dirty="0"/>
              <a:t>TGS_SS</a:t>
            </a:r>
            <a:r>
              <a:rPr lang="ru-RU" sz="2400" dirty="0"/>
              <a:t>,K</a:t>
            </a:r>
            <a:r>
              <a:rPr lang="ru-RU" sz="2400" baseline="-25000" dirty="0"/>
              <a:t>C_SS</a:t>
            </a:r>
            <a:r>
              <a:rPr lang="ru-RU" sz="2400" dirty="0"/>
              <a:t>}K</a:t>
            </a:r>
            <a:r>
              <a:rPr lang="ru-RU" sz="2400" baseline="-25000" dirty="0"/>
              <a:t>C_TGS</a:t>
            </a:r>
            <a:endParaRPr lang="ru-RU" sz="24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где K</a:t>
            </a:r>
            <a:r>
              <a:rPr lang="ru-RU" sz="2400" baseline="-25000" dirty="0"/>
              <a:t>C_SS</a:t>
            </a:r>
            <a:r>
              <a:rPr lang="ru-RU" sz="2400" dirty="0"/>
              <a:t> - ключ для взаимодействия C и SS, </a:t>
            </a:r>
            <a:endParaRPr lang="en-US" sz="24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sz="2400" dirty="0"/>
              <a:t>{TGS} - </a:t>
            </a:r>
            <a:r>
              <a:rPr lang="ru-RU" sz="2400" dirty="0" err="1"/>
              <a:t>Ticket</a:t>
            </a:r>
            <a:r>
              <a:rPr lang="ru-RU" sz="2400" dirty="0"/>
              <a:t> </a:t>
            </a:r>
            <a:r>
              <a:rPr lang="ru-RU" sz="2400" dirty="0" err="1"/>
              <a:t>Granting</a:t>
            </a:r>
            <a:r>
              <a:rPr lang="ru-RU" sz="2400" dirty="0"/>
              <a:t> Service - билет для доступа к SS (обратите внимание, что такой же аббревиатурой в описании протокола обозначается и сервер выдачи разрешений). {TGS} ={с,ss,t</a:t>
            </a:r>
            <a:r>
              <a:rPr lang="ru-RU" sz="2400" baseline="-25000" dirty="0"/>
              <a:t>3</a:t>
            </a:r>
            <a:r>
              <a:rPr lang="ru-RU" sz="2400" dirty="0"/>
              <a:t>,p</a:t>
            </a:r>
            <a:r>
              <a:rPr lang="ru-RU" sz="2400" baseline="-25000" dirty="0"/>
              <a:t>2</a:t>
            </a:r>
            <a:r>
              <a:rPr lang="ru-RU" sz="2400" dirty="0"/>
              <a:t>, K</a:t>
            </a:r>
            <a:r>
              <a:rPr lang="ru-RU" sz="2400" baseline="-25000" dirty="0"/>
              <a:t>C_SS</a:t>
            </a:r>
            <a:r>
              <a:rPr lang="ru-RU" sz="2400" dirty="0"/>
              <a:t> }.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6754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D8EF5-E381-4F92-9173-6E03B2BB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</a:t>
            </a:r>
            <a:r>
              <a:rPr lang="ru-RU" dirty="0"/>
              <a:t> </a:t>
            </a:r>
            <a:r>
              <a:rPr lang="ru-RU" b="1" dirty="0"/>
              <a:t>протокола </a:t>
            </a:r>
            <a:r>
              <a:rPr lang="en-US" b="1" dirty="0"/>
              <a:t>Kerberos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929052-357D-4229-9FF9-34FCCE8A2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5. C-&gt;SS: {TGS}K</a:t>
            </a:r>
            <a:r>
              <a:rPr lang="ru-RU" baseline="-25000" dirty="0"/>
              <a:t>TGS_SS</a:t>
            </a:r>
            <a:r>
              <a:rPr lang="ru-RU" dirty="0"/>
              <a:t>, {Aut</a:t>
            </a:r>
            <a:r>
              <a:rPr lang="ru-RU" baseline="-25000" dirty="0"/>
              <a:t>2</a:t>
            </a:r>
            <a:r>
              <a:rPr lang="ru-RU" dirty="0"/>
              <a:t>} K</a:t>
            </a:r>
            <a:r>
              <a:rPr lang="ru-RU" baseline="-25000" dirty="0"/>
              <a:t>C_SS</a:t>
            </a:r>
            <a:endParaRPr lang="ru-RU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ru-RU" dirty="0"/>
              <a:t>где Aut</a:t>
            </a:r>
            <a:r>
              <a:rPr lang="ru-RU" baseline="-25000" dirty="0"/>
              <a:t>2</a:t>
            </a:r>
            <a:r>
              <a:rPr lang="ru-RU" dirty="0"/>
              <a:t>={c,t</a:t>
            </a:r>
            <a:r>
              <a:rPr lang="ru-RU" baseline="-25000" dirty="0"/>
              <a:t>4</a:t>
            </a:r>
            <a:r>
              <a:rPr lang="ru-RU" dirty="0"/>
              <a:t>}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dirty="0"/>
              <a:t>6. SS-&gt;C: {t</a:t>
            </a:r>
            <a:r>
              <a:rPr lang="ru-RU" baseline="-25000" dirty="0"/>
              <a:t>4</a:t>
            </a:r>
            <a:r>
              <a:rPr lang="ru-RU" dirty="0"/>
              <a:t>+1}K</a:t>
            </a:r>
            <a:r>
              <a:rPr lang="ru-RU" baseline="-25000" dirty="0"/>
              <a:t>C_SS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5187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306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Протокол Kerberos</vt:lpstr>
      <vt:lpstr>Схема протокола Kerberos</vt:lpstr>
      <vt:lpstr>Описание протокола Kerberos</vt:lpstr>
      <vt:lpstr>Описание протокола Kerberos</vt:lpstr>
      <vt:lpstr>Описание протокола Kerberos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Kerberos</dc:title>
  <dc:creator>Rodion</dc:creator>
  <cp:lastModifiedBy>Родион Балтаев</cp:lastModifiedBy>
  <cp:revision>6</cp:revision>
  <dcterms:created xsi:type="dcterms:W3CDTF">2020-05-30T06:01:43Z</dcterms:created>
  <dcterms:modified xsi:type="dcterms:W3CDTF">2023-05-27T15:55:46Z</dcterms:modified>
</cp:coreProperties>
</file>