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01" y="-4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AB267D8-A171-496D-9420-914770AF4EF0}" type="datetimeFigureOut">
              <a:rPr lang="ru-RU" smtClean="0"/>
              <a:pPr/>
              <a:t>17.01.2024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94EB3FE5-27AF-469E-B889-6DE705911E0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7200" y="1714489"/>
            <a:ext cx="8458200" cy="1714511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Назначение</a:t>
            </a:r>
            <a:r>
              <a:rPr lang="ru-RU" dirty="0" smtClean="0"/>
              <a:t>, структура и физическая организация файловой системы. Физическая организация NTFS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 flipH="1" flipV="1">
            <a:off x="10001288" y="4071942"/>
            <a:ext cx="4157714" cy="219092"/>
          </a:xfrm>
        </p:spPr>
        <p:txBody>
          <a:bodyPr>
            <a:normAutofit fontScale="40000" lnSpcReduction="20000"/>
          </a:bodyPr>
          <a:lstStyle/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715008" y="6215082"/>
            <a:ext cx="225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Зеленин М.О. БАС-19</a:t>
            </a:r>
            <a:endParaRPr lang="ru-RU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Файловая система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928934"/>
            <a:ext cx="8229600" cy="364560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000" dirty="0" smtClean="0">
                <a:latin typeface="+mj-lt"/>
                <a:ea typeface="+mj-ea"/>
                <a:cs typeface="+mj-cs"/>
              </a:rPr>
              <a:t>Файловая система - часть операционной системы, обеспечивающая запись и чтение файлов на дисковых носителях.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662" y="5143512"/>
            <a:ext cx="6034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+mj-lt"/>
                <a:ea typeface="+mj-ea"/>
                <a:cs typeface="+mj-cs"/>
              </a:rPr>
              <a:t>Примерами файловых систем</a:t>
            </a:r>
            <a:r>
              <a:rPr lang="en-US" sz="2000" dirty="0" smtClean="0">
                <a:latin typeface="+mj-lt"/>
                <a:ea typeface="+mj-ea"/>
                <a:cs typeface="+mj-cs"/>
              </a:rPr>
              <a:t>: NTFS, EXT4, FAT32</a:t>
            </a:r>
            <a:endParaRPr lang="ru-RU" sz="2000" dirty="0" smtClean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 файловой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>
                <a:latin typeface="+mj-lt"/>
                <a:ea typeface="+mj-ea"/>
                <a:cs typeface="+mj-cs"/>
              </a:rPr>
              <a:t>Какие задачи решает файловая система?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+mj-lt"/>
                <a:ea typeface="+mj-ea"/>
                <a:cs typeface="+mj-cs"/>
              </a:rPr>
              <a:t>именование файлов;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+mj-lt"/>
                <a:ea typeface="+mj-ea"/>
                <a:cs typeface="+mj-cs"/>
              </a:rPr>
              <a:t>программный интерфейс работы с файлами для приложений;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+mj-lt"/>
                <a:ea typeface="+mj-ea"/>
                <a:cs typeface="+mj-cs"/>
              </a:rPr>
              <a:t>обеспечить устойчивость к сбоям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+mj-lt"/>
                <a:ea typeface="+mj-ea"/>
                <a:cs typeface="+mj-cs"/>
              </a:rPr>
              <a:t>параметры файлов для их </a:t>
            </a:r>
            <a:r>
              <a:rPr lang="ru-RU" sz="1800" dirty="0" smtClean="0">
                <a:latin typeface="+mj-lt"/>
                <a:ea typeface="+mj-ea"/>
                <a:cs typeface="+mj-cs"/>
              </a:rPr>
              <a:t>определения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+mj-lt"/>
                <a:ea typeface="+mj-ea"/>
                <a:cs typeface="+mj-cs"/>
              </a:rPr>
              <a:t>защита </a:t>
            </a:r>
            <a:r>
              <a:rPr lang="ru-RU" sz="1800" dirty="0" smtClean="0">
                <a:latin typeface="+mj-lt"/>
                <a:ea typeface="+mj-ea"/>
                <a:cs typeface="+mj-cs"/>
              </a:rPr>
              <a:t>файлов от несанкционированного доступа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+mj-lt"/>
                <a:ea typeface="+mj-ea"/>
                <a:cs typeface="+mj-cs"/>
              </a:rPr>
              <a:t>определение </a:t>
            </a:r>
            <a:r>
              <a:rPr lang="ru-RU" sz="1800" dirty="0" smtClean="0">
                <a:latin typeface="+mj-lt"/>
                <a:ea typeface="+mj-ea"/>
                <a:cs typeface="+mj-cs"/>
              </a:rPr>
              <a:t>прав доступа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файловой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Содержимое файлов записано в </a:t>
            </a:r>
            <a:r>
              <a:rPr lang="ru-RU" sz="1600" b="1" dirty="0" smtClean="0">
                <a:latin typeface="+mj-lt"/>
                <a:ea typeface="+mj-ea"/>
                <a:cs typeface="+mj-cs"/>
              </a:rPr>
              <a:t>кластеры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 (</a:t>
            </a:r>
            <a:r>
              <a:rPr lang="ru-RU" sz="1600" dirty="0" err="1" smtClean="0">
                <a:latin typeface="+mj-lt"/>
                <a:ea typeface="+mj-ea"/>
                <a:cs typeface="+mj-cs"/>
              </a:rPr>
              <a:t>clusters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) — мельчайшие единицы данных, которыми оперирует файловая система, размер их кратен 512.</a:t>
            </a:r>
          </a:p>
          <a:p>
            <a:pPr>
              <a:lnSpc>
                <a:spcPct val="170000"/>
              </a:lnSpc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Для организации информации используются также каталоги (или папки), как некая абстракция, позволяющая группировать файлы по определённому критерию. По своей сути </a:t>
            </a:r>
            <a:r>
              <a:rPr lang="ru-RU" sz="1600" b="1" dirty="0" smtClean="0">
                <a:latin typeface="+mj-lt"/>
                <a:ea typeface="+mj-ea"/>
                <a:cs typeface="+mj-cs"/>
              </a:rPr>
              <a:t>каталог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 — это файл, содержащий информацию о как бы вложенных в него каталогах и файлах.</a:t>
            </a:r>
            <a:endParaRPr lang="en-US" sz="1600" dirty="0" smtClean="0">
              <a:latin typeface="+mj-lt"/>
              <a:ea typeface="+mj-ea"/>
              <a:cs typeface="+mj-cs"/>
            </a:endParaRPr>
          </a:p>
          <a:p>
            <a:pPr>
              <a:lnSpc>
                <a:spcPct val="170000"/>
              </a:lnSpc>
              <a:buNone/>
            </a:pPr>
            <a:r>
              <a:rPr lang="ru-RU" sz="1600" b="1" dirty="0" smtClean="0">
                <a:latin typeface="+mj-lt"/>
                <a:ea typeface="+mj-ea"/>
                <a:cs typeface="+mj-cs"/>
              </a:rPr>
              <a:t>Том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 - единица пространства хранения, доступная для разметки под единую файловую систему.</a:t>
            </a:r>
          </a:p>
          <a:p>
            <a:pPr>
              <a:lnSpc>
                <a:spcPct val="170000"/>
              </a:lnSpc>
              <a:buNone/>
            </a:pPr>
            <a:endParaRPr lang="ru-RU" sz="1600" dirty="0" smtClean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Физическая организация ФС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82238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1600" b="1" dirty="0" smtClean="0">
                <a:latin typeface="+mj-lt"/>
                <a:ea typeface="+mj-ea"/>
                <a:cs typeface="+mj-cs"/>
              </a:rPr>
              <a:t>Непрерывное размещение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 — простейший вариант физической организации при котором файлу предоставляется последовательность кластеров диска, образующих непрерывный участок дисковой памяти.</a:t>
            </a:r>
          </a:p>
          <a:p>
            <a:pPr>
              <a:buNone/>
            </a:pPr>
            <a:endParaRPr lang="ru-RU" sz="1600" dirty="0" smtClean="0"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143248"/>
            <a:ext cx="2500330" cy="306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286116" y="3786190"/>
            <a:ext cx="56435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+mj-lt"/>
                <a:ea typeface="+mj-ea"/>
                <a:cs typeface="+mj-cs"/>
              </a:rPr>
              <a:t>Достоинства:</a:t>
            </a:r>
            <a:r>
              <a:rPr lang="ru-RU" sz="1600" dirty="0">
                <a:latin typeface="+mj-lt"/>
                <a:ea typeface="+mj-ea"/>
                <a:cs typeface="+mj-cs"/>
              </a:rPr>
              <a:t> </a:t>
            </a:r>
            <a:br>
              <a:rPr lang="ru-RU" sz="1600" dirty="0">
                <a:latin typeface="+mj-lt"/>
                <a:ea typeface="+mj-ea"/>
                <a:cs typeface="+mj-cs"/>
              </a:rPr>
            </a:br>
            <a:r>
              <a:rPr lang="ru-RU" sz="1600" dirty="0">
                <a:latin typeface="+mj-lt"/>
                <a:ea typeface="+mj-ea"/>
                <a:cs typeface="+mj-cs"/>
              </a:rPr>
              <a:t>1) адрес файла определяется номером начального блока</a:t>
            </a:r>
            <a:br>
              <a:rPr lang="ru-RU" sz="1600" dirty="0">
                <a:latin typeface="+mj-lt"/>
                <a:ea typeface="+mj-ea"/>
                <a:cs typeface="+mj-cs"/>
              </a:rPr>
            </a:br>
            <a:r>
              <a:rPr lang="ru-RU" sz="1600" dirty="0">
                <a:latin typeface="+mj-lt"/>
                <a:ea typeface="+mj-ea"/>
                <a:cs typeface="+mj-cs"/>
              </a:rPr>
              <a:t>2) простота реализации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.</a:t>
            </a:r>
            <a:br>
              <a:rPr lang="ru-RU" sz="1600" dirty="0" smtClean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3) скорость</a:t>
            </a:r>
            <a:endParaRPr lang="ru-RU" sz="1600" dirty="0">
              <a:latin typeface="+mj-lt"/>
              <a:ea typeface="+mj-ea"/>
              <a:cs typeface="+mj-cs"/>
            </a:endParaRPr>
          </a:p>
          <a:p>
            <a:r>
              <a:rPr lang="ru-RU" sz="1600" dirty="0" smtClean="0">
                <a:latin typeface="+mj-lt"/>
                <a:ea typeface="+mj-ea"/>
                <a:cs typeface="+mj-cs"/>
              </a:rPr>
              <a:t>Недостатки:</a:t>
            </a:r>
            <a:r>
              <a:rPr lang="ru-RU" sz="1600" dirty="0">
                <a:latin typeface="+mj-lt"/>
                <a:ea typeface="+mj-ea"/>
                <a:cs typeface="+mj-cs"/>
              </a:rPr>
              <a:t> 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/>
            </a:r>
            <a:br>
              <a:rPr lang="ru-RU" sz="1600" dirty="0" smtClean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1) неэффектное </a:t>
            </a:r>
            <a:r>
              <a:rPr lang="ru-RU" sz="1600" dirty="0">
                <a:latin typeface="+mj-lt"/>
                <a:ea typeface="+mj-ea"/>
                <a:cs typeface="+mj-cs"/>
              </a:rPr>
              <a:t>использование дискового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пространства</a:t>
            </a:r>
            <a:endParaRPr lang="ru-RU" sz="16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Физическая организация ФС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146532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Следующий способ физической организации — размещение файла в виде </a:t>
            </a:r>
            <a:r>
              <a:rPr lang="ru-RU" sz="1600" b="1" dirty="0" smtClean="0">
                <a:latin typeface="+mj-lt"/>
                <a:ea typeface="+mj-ea"/>
                <a:cs typeface="+mj-cs"/>
              </a:rPr>
              <a:t>связанного списка кластеров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 дисковой памяти. При таком способе в начале каждого кластера содержится указатель на следующий кластер. В этом случае адресная информация минимальна: расположение файла может быть задано одним числом — номером первого кластера.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857628"/>
            <a:ext cx="1470025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643307" y="4286256"/>
            <a:ext cx="49292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  <a:ea typeface="+mj-ea"/>
                <a:cs typeface="+mj-cs"/>
              </a:rPr>
              <a:t>Достоинство: </a:t>
            </a:r>
            <a:endParaRPr lang="ru-RU" sz="1600" dirty="0" smtClean="0">
              <a:latin typeface="+mj-lt"/>
              <a:ea typeface="+mj-ea"/>
              <a:cs typeface="+mj-cs"/>
            </a:endParaRPr>
          </a:p>
          <a:p>
            <a:r>
              <a:rPr lang="ru-RU" sz="1600" dirty="0" smtClean="0">
                <a:latin typeface="+mj-lt"/>
                <a:ea typeface="+mj-ea"/>
                <a:cs typeface="+mj-cs"/>
              </a:rPr>
              <a:t>1) адрес </a:t>
            </a:r>
            <a:r>
              <a:rPr lang="ru-RU" sz="1600" dirty="0">
                <a:latin typeface="+mj-lt"/>
                <a:ea typeface="+mj-ea"/>
                <a:cs typeface="+mj-cs"/>
              </a:rPr>
              <a:t>файла задаётся номером первого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блока </a:t>
            </a:r>
            <a:r>
              <a:rPr lang="ru-RU" sz="1600" dirty="0">
                <a:latin typeface="+mj-lt"/>
                <a:ea typeface="+mj-ea"/>
                <a:cs typeface="+mj-cs"/>
              </a:rPr>
              <a:t/>
            </a:r>
            <a:br>
              <a:rPr lang="ru-RU" sz="1600" dirty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2) файл </a:t>
            </a:r>
            <a:r>
              <a:rPr lang="ru-RU" sz="1600" dirty="0">
                <a:latin typeface="+mj-lt"/>
                <a:ea typeface="+mj-ea"/>
                <a:cs typeface="+mj-cs"/>
              </a:rPr>
              <a:t>может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легко увеличиваться</a:t>
            </a:r>
          </a:p>
          <a:p>
            <a:endParaRPr lang="ru-RU" sz="1600" dirty="0">
              <a:latin typeface="+mj-lt"/>
              <a:ea typeface="+mj-ea"/>
              <a:cs typeface="+mj-cs"/>
            </a:endParaRPr>
          </a:p>
          <a:p>
            <a:r>
              <a:rPr lang="ru-RU" sz="1600" dirty="0">
                <a:latin typeface="+mj-lt"/>
                <a:ea typeface="+mj-ea"/>
                <a:cs typeface="+mj-cs"/>
              </a:rPr>
              <a:t>Недостаток: </a:t>
            </a:r>
            <a:endParaRPr lang="ru-RU" sz="1600" dirty="0" smtClean="0">
              <a:latin typeface="+mj-lt"/>
              <a:ea typeface="+mj-ea"/>
              <a:cs typeface="+mj-cs"/>
            </a:endParaRPr>
          </a:p>
          <a:p>
            <a:r>
              <a:rPr lang="ru-RU" sz="1600" dirty="0" smtClean="0">
                <a:latin typeface="+mj-lt"/>
                <a:ea typeface="+mj-ea"/>
                <a:cs typeface="+mj-cs"/>
              </a:rPr>
              <a:t>1) требуется доп. информация </a:t>
            </a:r>
            <a:r>
              <a:rPr lang="en-US" sz="1600" dirty="0" smtClean="0">
                <a:latin typeface="+mj-lt"/>
                <a:ea typeface="+mj-ea"/>
                <a:cs typeface="+mj-cs"/>
              </a:rPr>
              <a:t>overhead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/>
            </a:r>
            <a:br>
              <a:rPr lang="ru-RU" sz="1600" dirty="0" smtClean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2) указатель может быть потерян</a:t>
            </a:r>
            <a:endParaRPr lang="ru-RU" sz="1600" dirty="0">
              <a:latin typeface="+mj-lt"/>
              <a:ea typeface="+mj-ea"/>
              <a:cs typeface="+mj-cs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Физическая организация ФС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146532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 </a:t>
            </a:r>
            <a:r>
              <a:rPr lang="ru-RU" sz="1600" b="1" dirty="0" smtClean="0">
                <a:latin typeface="+mj-lt"/>
                <a:ea typeface="+mj-ea"/>
                <a:cs typeface="+mj-cs"/>
              </a:rPr>
              <a:t>Связанный список индексов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. Номер первого кластера запоминается в записи каталога, где хранятся характеристики этого файла. Остальная адресная информация отделена от кластеров файла. С каждым кластером диска связывается некоторый элемент — индекс. Индексы располагаются в отдельной области диска.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714752"/>
            <a:ext cx="2081213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Физическая организация ФС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153676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600" b="1" dirty="0" smtClean="0">
                <a:latin typeface="+mj-lt"/>
                <a:ea typeface="+mj-ea"/>
                <a:cs typeface="+mj-cs"/>
              </a:rPr>
              <a:t>Простое перечисление номеров кластеров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. Этот перечень и служит адресом файла. Недостаток данного способа очевиден: длина адреса зависит от размера файла и для большого файла может составить значительную величину.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786190"/>
            <a:ext cx="1722437" cy="25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286116" y="3857628"/>
            <a:ext cx="4572000" cy="140038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5760" indent="-256032">
              <a:spcBef>
                <a:spcPts val="300"/>
              </a:spcBef>
              <a:buClr>
                <a:schemeClr val="accent3"/>
              </a:buClr>
            </a:pPr>
            <a:r>
              <a:rPr lang="ru-RU" sz="1600" dirty="0">
                <a:latin typeface="+mj-lt"/>
                <a:ea typeface="+mj-ea"/>
                <a:cs typeface="+mj-cs"/>
              </a:rPr>
              <a:t>Достоинства: </a:t>
            </a:r>
            <a:endParaRPr lang="ru-RU" sz="1600" dirty="0" smtClean="0">
              <a:latin typeface="+mj-lt"/>
              <a:ea typeface="+mj-ea"/>
              <a:cs typeface="+mj-cs"/>
            </a:endParaRPr>
          </a:p>
          <a:p>
            <a:pPr marL="452628" indent="-342900">
              <a:spcBef>
                <a:spcPts val="300"/>
              </a:spcBef>
              <a:buClr>
                <a:schemeClr val="accent3"/>
              </a:buClr>
              <a:buAutoNum type="arabicParenR"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снижаются </a:t>
            </a:r>
            <a:r>
              <a:rPr lang="ru-RU" sz="1600" dirty="0">
                <a:latin typeface="+mj-lt"/>
                <a:ea typeface="+mj-ea"/>
                <a:cs typeface="+mj-cs"/>
              </a:rPr>
              <a:t>проблемы динамического размера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файла</a:t>
            </a:r>
          </a:p>
          <a:p>
            <a:pPr marL="365760" indent="-256032">
              <a:spcBef>
                <a:spcPts val="300"/>
              </a:spcBef>
              <a:buClr>
                <a:schemeClr val="accent3"/>
              </a:buClr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Недостатки</a:t>
            </a:r>
            <a:r>
              <a:rPr lang="ru-RU" sz="1600" dirty="0">
                <a:latin typeface="+mj-lt"/>
                <a:ea typeface="+mj-ea"/>
                <a:cs typeface="+mj-cs"/>
              </a:rPr>
              <a:t>: 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/>
            </a:r>
            <a:br>
              <a:rPr lang="ru-RU" sz="1600" dirty="0" smtClean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1) усложняются </a:t>
            </a:r>
            <a:r>
              <a:rPr lang="ru-RU" sz="1600" dirty="0">
                <a:latin typeface="+mj-lt"/>
                <a:ea typeface="+mj-ea"/>
                <a:cs typeface="+mj-cs"/>
              </a:rPr>
              <a:t>алгоритмы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поиска</a:t>
            </a:r>
            <a:endParaRPr lang="ru-RU" sz="16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Файловая система </a:t>
            </a:r>
            <a:r>
              <a:rPr lang="en-US" dirty="0" smtClean="0"/>
              <a:t>NTFS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Файловая система NTFS была разработана в качестве основной файловой системы для ОС </a:t>
            </a:r>
            <a:r>
              <a:rPr lang="ru-RU" sz="1600" dirty="0" err="1" smtClean="0">
                <a:latin typeface="+mj-lt"/>
                <a:ea typeface="+mj-ea"/>
                <a:cs typeface="+mj-cs"/>
              </a:rPr>
              <a:t>Windows</a:t>
            </a:r>
            <a:r>
              <a:rPr lang="en-US" sz="1600" dirty="0" smtClean="0">
                <a:latin typeface="+mj-lt"/>
                <a:ea typeface="+mj-ea"/>
                <a:cs typeface="+mj-cs"/>
              </a:rPr>
              <a:t>.</a:t>
            </a:r>
          </a:p>
          <a:p>
            <a:pPr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/>
            </a:r>
            <a:br>
              <a:rPr lang="ru-RU" sz="1600" dirty="0" smtClean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Особенности</a:t>
            </a:r>
            <a:r>
              <a:rPr lang="en-US" sz="1600" dirty="0" smtClean="0">
                <a:latin typeface="+mj-lt"/>
                <a:ea typeface="+mj-ea"/>
                <a:cs typeface="+mj-cs"/>
              </a:rPr>
              <a:t>:</a:t>
            </a:r>
          </a:p>
          <a:p>
            <a:pPr>
              <a:buNone/>
            </a:pPr>
            <a:r>
              <a:rPr lang="en-US" sz="1600" dirty="0" smtClean="0">
                <a:latin typeface="+mj-lt"/>
                <a:ea typeface="+mj-ea"/>
                <a:cs typeface="+mj-cs"/>
              </a:rPr>
              <a:t/>
            </a:r>
            <a:br>
              <a:rPr lang="en-US" sz="1600" dirty="0" smtClean="0">
                <a:latin typeface="+mj-lt"/>
                <a:ea typeface="+mj-ea"/>
                <a:cs typeface="+mj-cs"/>
              </a:rPr>
            </a:br>
            <a:r>
              <a:rPr lang="ru-RU" sz="1600" dirty="0" smtClean="0">
                <a:latin typeface="+mj-lt"/>
                <a:ea typeface="+mj-ea"/>
                <a:cs typeface="+mj-cs"/>
              </a:rPr>
              <a:t>  </a:t>
            </a:r>
            <a:r>
              <a:rPr lang="en-US" sz="1600" dirty="0" smtClean="0">
                <a:latin typeface="+mj-lt"/>
                <a:ea typeface="+mj-ea"/>
                <a:cs typeface="+mj-cs"/>
              </a:rPr>
              <a:t>1)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NTFS использует в своей физической организации </a:t>
            </a:r>
            <a:r>
              <a:rPr lang="ru-RU" sz="1600" u="sng" dirty="0" smtClean="0">
                <a:latin typeface="+mj-lt"/>
                <a:ea typeface="+mj-ea"/>
                <a:cs typeface="+mj-cs"/>
              </a:rPr>
              <a:t>непрерывное размещение</a:t>
            </a:r>
          </a:p>
          <a:p>
            <a:pPr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	  2) Длина кластера принимает размеры от 512 байт до 2048 </a:t>
            </a:r>
            <a:r>
              <a:rPr lang="ru-RU" sz="1600" dirty="0" err="1" smtClean="0">
                <a:latin typeface="+mj-lt"/>
                <a:ea typeface="+mj-ea"/>
                <a:cs typeface="+mj-cs"/>
              </a:rPr>
              <a:t>Кбт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. Стандартное – 4Кб.</a:t>
            </a:r>
          </a:p>
          <a:p>
            <a:pPr>
              <a:buNone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	  3) Основной структурой тома является </a:t>
            </a:r>
            <a:r>
              <a:rPr lang="en-US" sz="1600" dirty="0" smtClean="0">
                <a:latin typeface="+mj-lt"/>
                <a:ea typeface="+mj-ea"/>
                <a:cs typeface="+mj-cs"/>
              </a:rPr>
              <a:t>MFT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 –</a:t>
            </a:r>
            <a:r>
              <a:rPr lang="en-US" sz="1600" dirty="0" smtClean="0">
                <a:latin typeface="+mj-lt"/>
                <a:ea typeface="+mj-ea"/>
                <a:cs typeface="+mj-cs"/>
              </a:rPr>
              <a:t> Master File System.</a:t>
            </a:r>
            <a:endParaRPr lang="ru-RU" sz="1600" dirty="0" smtClean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Файловая система </a:t>
            </a:r>
            <a:r>
              <a:rPr lang="en-US" dirty="0" smtClean="0"/>
              <a:t>NTFS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2571744"/>
            <a:ext cx="4829180" cy="15716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400" dirty="0" smtClean="0">
                <a:latin typeface="+mj-lt"/>
                <a:ea typeface="+mj-ea"/>
                <a:cs typeface="+mj-cs"/>
              </a:rPr>
              <a:t> MFT (</a:t>
            </a:r>
            <a:r>
              <a:rPr lang="ru-RU" sz="1400" dirty="0" err="1" smtClean="0">
                <a:latin typeface="+mj-lt"/>
                <a:ea typeface="+mj-ea"/>
                <a:cs typeface="+mj-cs"/>
              </a:rPr>
              <a:t>Master</a:t>
            </a:r>
            <a:r>
              <a:rPr lang="ru-RU" sz="1400" dirty="0" smtClean="0">
                <a:latin typeface="+mj-lt"/>
                <a:ea typeface="+mj-ea"/>
                <a:cs typeface="+mj-cs"/>
              </a:rPr>
              <a:t> </a:t>
            </a:r>
            <a:r>
              <a:rPr lang="ru-RU" sz="1400" dirty="0" err="1" smtClean="0">
                <a:latin typeface="+mj-lt"/>
                <a:ea typeface="+mj-ea"/>
                <a:cs typeface="+mj-cs"/>
              </a:rPr>
              <a:t>File</a:t>
            </a:r>
            <a:r>
              <a:rPr lang="ru-RU" sz="1400" dirty="0" smtClean="0">
                <a:latin typeface="+mj-lt"/>
                <a:ea typeface="+mj-ea"/>
                <a:cs typeface="+mj-cs"/>
              </a:rPr>
              <a:t> </a:t>
            </a:r>
            <a:r>
              <a:rPr lang="ru-RU" sz="1400" dirty="0" err="1" smtClean="0">
                <a:latin typeface="+mj-lt"/>
                <a:ea typeface="+mj-ea"/>
                <a:cs typeface="+mj-cs"/>
              </a:rPr>
              <a:t>Table</a:t>
            </a:r>
            <a:r>
              <a:rPr lang="ru-RU" sz="1400" dirty="0" smtClean="0">
                <a:latin typeface="+mj-lt"/>
                <a:ea typeface="+mj-ea"/>
                <a:cs typeface="+mj-cs"/>
              </a:rPr>
              <a:t>) – главная таблица файлов, которая содержит, по крайней мере, одну запись для каждого файла тома, включая одну запись для самой себя, т.е. представляет собой каталог всех имеющихся файлов</a:t>
            </a:r>
            <a:r>
              <a:rPr lang="en-US" sz="1400" dirty="0" smtClean="0">
                <a:latin typeface="+mj-lt"/>
                <a:ea typeface="+mj-ea"/>
                <a:cs typeface="+mj-cs"/>
              </a:rPr>
              <a:t>.</a:t>
            </a:r>
            <a:endParaRPr lang="ru-RU" sz="1400" dirty="0" smtClean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4572008"/>
            <a:ext cx="35004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1400" dirty="0">
                <a:latin typeface="+mj-lt"/>
                <a:ea typeface="+mj-ea"/>
                <a:cs typeface="+mj-cs"/>
              </a:rPr>
              <a:t>12% диска </a:t>
            </a:r>
            <a:r>
              <a:rPr lang="en-US" sz="1400" dirty="0">
                <a:latin typeface="+mj-lt"/>
                <a:ea typeface="+mj-ea"/>
                <a:cs typeface="+mj-cs"/>
              </a:rPr>
              <a:t>MFT </a:t>
            </a:r>
            <a:r>
              <a:rPr lang="ru-RU" sz="1400" dirty="0">
                <a:latin typeface="+mj-lt"/>
                <a:ea typeface="+mj-ea"/>
                <a:cs typeface="+mj-cs"/>
              </a:rPr>
              <a:t>зона</a:t>
            </a:r>
          </a:p>
          <a:p>
            <a:pPr>
              <a:buNone/>
            </a:pPr>
            <a:r>
              <a:rPr lang="ru-RU" sz="1400" dirty="0">
                <a:latin typeface="+mj-lt"/>
                <a:ea typeface="+mj-ea"/>
                <a:cs typeface="+mj-cs"/>
              </a:rPr>
              <a:t>88% дисковое пространство</a:t>
            </a:r>
          </a:p>
          <a:p>
            <a:pPr>
              <a:buNone/>
            </a:pPr>
            <a:r>
              <a:rPr lang="ru-RU" sz="1400" dirty="0">
                <a:latin typeface="+mj-lt"/>
                <a:ea typeface="+mj-ea"/>
                <a:cs typeface="+mj-cs"/>
              </a:rPr>
              <a:t>Все файлы на томе NTFS идентифицируются номером файла, который определяется позицией файла в MFT.</a:t>
            </a:r>
          </a:p>
          <a:p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1985493"/>
            <a:ext cx="3275009" cy="4872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4329114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Файловая система </a:t>
            </a:r>
            <a:r>
              <a:rPr lang="en-US" dirty="0" smtClean="0"/>
              <a:t>NTFS</a:t>
            </a: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57752" y="466976"/>
            <a:ext cx="3942712" cy="6218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файлов </a:t>
            </a:r>
            <a:r>
              <a:rPr lang="en-US" dirty="0" smtClean="0"/>
              <a:t>NTFS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400" dirty="0" smtClean="0">
                <a:latin typeface="+mj-lt"/>
                <a:ea typeface="+mj-ea"/>
                <a:cs typeface="+mj-cs"/>
              </a:rPr>
              <a:t>Файл содержит запись в </a:t>
            </a:r>
            <a:r>
              <a:rPr lang="en-US" sz="1400" dirty="0" smtClean="0">
                <a:latin typeface="+mj-lt"/>
                <a:ea typeface="+mj-ea"/>
                <a:cs typeface="+mj-cs"/>
              </a:rPr>
              <a:t>MFT, </a:t>
            </a:r>
            <a:r>
              <a:rPr lang="ru-RU" sz="1400" dirty="0" smtClean="0">
                <a:latin typeface="+mj-lt"/>
                <a:ea typeface="+mj-ea"/>
                <a:cs typeface="+mj-cs"/>
              </a:rPr>
              <a:t>собственное имя, информацию о защите и прочие атрибуты,</a:t>
            </a:r>
            <a:r>
              <a:rPr lang="en-US" sz="1400" dirty="0" smtClean="0">
                <a:latin typeface="+mj-lt"/>
                <a:ea typeface="+mj-ea"/>
                <a:cs typeface="+mj-cs"/>
              </a:rPr>
              <a:t> </a:t>
            </a:r>
            <a:r>
              <a:rPr lang="ru-RU" sz="1400" dirty="0" smtClean="0">
                <a:latin typeface="+mj-lt"/>
                <a:ea typeface="+mj-ea"/>
                <a:cs typeface="+mj-cs"/>
              </a:rPr>
              <a:t>ссылка на сами данные содержится уже в </a:t>
            </a:r>
            <a:r>
              <a:rPr lang="en-US" sz="1400" dirty="0" smtClean="0">
                <a:latin typeface="+mj-lt"/>
                <a:ea typeface="+mj-ea"/>
                <a:cs typeface="+mj-cs"/>
              </a:rPr>
              <a:t>MFT.</a:t>
            </a:r>
            <a:endParaRPr lang="ru-RU" sz="14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en-US" sz="14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ru-RU" sz="1400" dirty="0" smtClean="0">
                <a:latin typeface="+mj-lt"/>
                <a:ea typeface="+mj-ea"/>
                <a:cs typeface="+mj-cs"/>
              </a:rPr>
              <a:t>В NTFS кроме атрибутов у файла нет никаких других компонентов, </a:t>
            </a:r>
            <a:r>
              <a:rPr lang="ru-RU" sz="1400" b="1" dirty="0" smtClean="0">
                <a:latin typeface="+mj-lt"/>
                <a:ea typeface="+mj-ea"/>
                <a:cs typeface="+mj-cs"/>
              </a:rPr>
              <a:t> базовая сущность у файла только одна – номер в MFT</a:t>
            </a:r>
            <a:r>
              <a:rPr lang="ru-RU" sz="1400" dirty="0" smtClean="0">
                <a:latin typeface="+mj-lt"/>
                <a:ea typeface="+mj-ea"/>
                <a:cs typeface="+mj-cs"/>
              </a:rPr>
              <a:t>.</a:t>
            </a:r>
            <a:br>
              <a:rPr lang="ru-RU" sz="1400" dirty="0" smtClean="0">
                <a:latin typeface="+mj-lt"/>
                <a:ea typeface="+mj-ea"/>
                <a:cs typeface="+mj-cs"/>
              </a:rPr>
            </a:br>
            <a:endParaRPr lang="ru-RU" sz="14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ru-RU" sz="1400" dirty="0" smtClean="0">
                <a:latin typeface="+mj-lt"/>
                <a:ea typeface="+mj-ea"/>
                <a:cs typeface="+mj-cs"/>
              </a:rPr>
              <a:t>Опциональный элемент – потоки данных файла.</a:t>
            </a:r>
            <a:endParaRPr lang="ru-RU" sz="14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ru-RU" sz="14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ru-RU" sz="1400" dirty="0" smtClean="0">
                <a:latin typeface="+mj-lt"/>
                <a:ea typeface="+mj-ea"/>
                <a:cs typeface="+mj-cs"/>
              </a:rPr>
              <a:t>Каталог на NTFS представляет собой специфический файл, хранящий ссылки на другие файлы и каталоги, создавая иерархическое строение данных на диске. Файл каталога поделен на блоки, каждый из которых содержит имя файла, базовые атрибуты и ссылку на элемент MFT, который уже предоставляет полную информацию об элементе каталога.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Отказоустойчивость </a:t>
            </a:r>
            <a:r>
              <a:rPr lang="en-US" dirty="0" smtClean="0"/>
              <a:t>NTFS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ru-RU" sz="2000" dirty="0" smtClean="0">
                <a:latin typeface="+mj-lt"/>
                <a:ea typeface="+mj-ea"/>
                <a:cs typeface="+mj-cs"/>
              </a:rPr>
              <a:t>Отказоустойчивость реализована по принципу транзакции – действие  совершено полностью,  либо не совершено вовсе. </a:t>
            </a:r>
            <a:r>
              <a:rPr lang="ru-RU" sz="2000" dirty="0" smtClean="0">
                <a:latin typeface="+mj-lt"/>
                <a:ea typeface="+mj-ea"/>
                <a:cs typeface="+mj-cs"/>
              </a:rPr>
              <a:t>Промежуточных состояний </a:t>
            </a:r>
            <a:r>
              <a:rPr lang="ru-RU" sz="2000" dirty="0" smtClean="0">
                <a:latin typeface="+mj-lt"/>
                <a:ea typeface="+mj-ea"/>
                <a:cs typeface="+mj-cs"/>
              </a:rPr>
              <a:t>нет.</a:t>
            </a:r>
          </a:p>
          <a:p>
            <a:pPr>
              <a:buNone/>
            </a:pPr>
            <a:endParaRPr lang="ru-RU" sz="18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ru-RU" sz="18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ru-RU" sz="18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ru-RU" sz="1800" dirty="0" smtClean="0"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ru-RU" sz="1800" dirty="0" smtClean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478633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4759</TotalTime>
  <Words>232</Words>
  <Application>Microsoft Office PowerPoint</Application>
  <PresentationFormat>Экран (4:3)</PresentationFormat>
  <Paragraphs>61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Городская</vt:lpstr>
      <vt:lpstr>Назначение, структура и физическая организация файловой системы. Физическая организация NTFS</vt:lpstr>
      <vt:lpstr>Файловая система</vt:lpstr>
      <vt:lpstr>Назначение файловой системы</vt:lpstr>
      <vt:lpstr>Структура файловой системы</vt:lpstr>
      <vt:lpstr>Физическая организация ФС</vt:lpstr>
      <vt:lpstr>Физическая организация ФС</vt:lpstr>
      <vt:lpstr>Физическая организация ФС</vt:lpstr>
      <vt:lpstr>Физическая организация ФС</vt:lpstr>
      <vt:lpstr>Файловая система NTFS</vt:lpstr>
      <vt:lpstr>Файловая система NTFS</vt:lpstr>
      <vt:lpstr>Файловая система NTFS</vt:lpstr>
      <vt:lpstr>Структура файлов NTFS</vt:lpstr>
      <vt:lpstr>Отказоустойчивость NTFS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Назначение, структура и физическая организация файловой системы. Физическая организация NTFS</dc:title>
  <dc:creator>user</dc:creator>
  <cp:lastModifiedBy>user</cp:lastModifiedBy>
  <cp:revision>81</cp:revision>
  <dcterms:created xsi:type="dcterms:W3CDTF">2024-01-13T09:30:51Z</dcterms:created>
  <dcterms:modified xsi:type="dcterms:W3CDTF">2024-01-17T14:41:38Z</dcterms:modified>
</cp:coreProperties>
</file>